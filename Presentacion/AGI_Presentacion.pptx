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828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1828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1828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828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1828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828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1828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9320" y="1828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1828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1828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828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98280" y="1828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00584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5880" y="100584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3120" y="100584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100584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100584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100584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00584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100584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00584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100584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00584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100584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182880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5880" y="182880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03120" y="182880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80360" y="182880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182880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34840" y="182880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2080" y="182880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89320" y="182880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182880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182880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182880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98280" y="182880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265176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25880" y="265176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03120" y="265176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80360" y="265176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0" y="265176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34840" y="265176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265176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89320" y="265176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265176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43800" y="265176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21040" y="265176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98280" y="265176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" y="347472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25880" y="347472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03120" y="347472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880360" y="347472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0" y="347472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34840" y="347472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12080" y="347472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89320" y="347472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66560" y="347472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543800" y="347472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21040" y="347472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98280" y="347472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8640" y="42976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25880" y="42976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03120" y="42976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80360" y="42976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57600" y="42976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434840" y="42976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212080" y="42976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89320" y="42976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0" y="42976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43800" y="42976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21040" y="42976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098280" y="4297680"/>
            <a:ext cx="54864" cy="54864"/>
          </a:xfrm>
          <a:prstGeom prst="ellipse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pic>
        <p:nvPicPr>
          <p:cNvPr id="7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48640"/>
            <a:ext cx="1828800" cy="1828800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365760" y="914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INTELIGENCIA ARTIFICIAL GENERAL</a:t>
            </a:r>
            <a:endParaRPr lang="en-US" sz="3200" dirty="0"/>
          </a:p>
        </p:txBody>
      </p:sp>
      <p:sp>
        <p:nvSpPr>
          <p:cNvPr id="77" name="Text 74"/>
          <p:cNvSpPr/>
          <p:nvPr/>
        </p:nvSpPr>
        <p:spPr>
          <a:xfrm>
            <a:off x="365760" y="1554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AGI</a:t>
            </a:r>
            <a:endParaRPr lang="en-US" sz="9600" dirty="0"/>
          </a:p>
        </p:txBody>
      </p:sp>
      <p:sp>
        <p:nvSpPr>
          <p:cNvPr id="78" name="Text 75"/>
          <p:cNvSpPr/>
          <p:nvPr/>
        </p:nvSpPr>
        <p:spPr>
          <a:xfrm>
            <a:off x="365760" y="3063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sueño de Turing a la realidad del siglo XXI</a:t>
            </a:r>
            <a:endParaRPr lang="en-US" sz="1800" dirty="0"/>
          </a:p>
        </p:txBody>
      </p:sp>
      <p:sp>
        <p:nvSpPr>
          <p:cNvPr id="79" name="Shape 76"/>
          <p:cNvSpPr/>
          <p:nvPr/>
        </p:nvSpPr>
        <p:spPr>
          <a:xfrm>
            <a:off x="164592" y="4526280"/>
            <a:ext cx="8979408" cy="621792"/>
          </a:xfrm>
          <a:prstGeom prst="rect">
            <a:avLst/>
          </a:prstGeom>
          <a:solidFill>
            <a:srgbClr val="111433"/>
          </a:solidFill>
          <a:ln w="12700">
            <a:solidFill>
              <a:srgbClr val="111433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65760" y="455371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Materia: Inteligencia Artificial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433"/>
          </a:solidFill>
          <a:ln w="12700">
            <a:solidFill>
              <a:srgbClr val="1114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LA AGI?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029200" cy="3200400"/>
          </a:xfrm>
          <a:prstGeom prst="rect">
            <a:avLst/>
          </a:prstGeom>
          <a:solidFill>
            <a:srgbClr val="1A205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45720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Artificial General (AGI) es un tipo de IA que iguala o supera las capacidades humanas en prácticamente todas las tareas cognitivas.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la IA Estrecha (ANI), la AGI puede: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Generalizar conocimiento entre dominios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Aprender tareas nuevas sin reprogramación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Razonar, planear y resolver problemas complejos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Adaptarse a situaciones completamente nuevas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32120" y="822960"/>
            <a:ext cx="3337560" cy="3200400"/>
          </a:xfrm>
          <a:prstGeom prst="rect">
            <a:avLst/>
          </a:prstGeom>
          <a:solidFill>
            <a:srgbClr val="1A2050"/>
          </a:solidFill>
          <a:ln w="12700">
            <a:solidFill>
              <a:srgbClr val="7B5EA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15000" y="914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3 Niveles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0" y="1417320"/>
            <a:ext cx="502920" cy="594360"/>
          </a:xfrm>
          <a:prstGeom prst="rect">
            <a:avLst/>
          </a:prstGeom>
          <a:solidFill>
            <a:srgbClr val="8A9BBF">
              <a:alpha val="80000"/>
            </a:srgbClr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4173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63640" y="14173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Estrecha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(hoy en día)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2286000"/>
            <a:ext cx="502920" cy="594360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2860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63640" y="22860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Humano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 objetivo)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3154680"/>
            <a:ext cx="502920" cy="59436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315468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315468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Superinteligencia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(más allá del humano)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1A205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062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"Una AGI podría ser la herramienta más poderosa en la historia de la humanidad… o el mayor riesgo que hayamos creado."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433"/>
          </a:solidFill>
          <a:ln w="12700">
            <a:solidFill>
              <a:srgbClr val="1114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LÍNEA DEL TIEMPO: CÓMO LLEGAMOS AQUÍ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" y="914400"/>
            <a:ext cx="54864" cy="3931920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069848"/>
            <a:ext cx="274320" cy="2743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960120"/>
            <a:ext cx="777240" cy="502920"/>
          </a:xfrm>
          <a:prstGeom prst="rect">
            <a:avLst/>
          </a:prstGeom>
          <a:solidFill>
            <a:srgbClr val="00C8FF">
              <a:alpha val="8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9601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1950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960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de Turing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216152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propone la prueba para medir si una máquina puede pensar como un humano.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1837944"/>
            <a:ext cx="274320" cy="27432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1728216"/>
            <a:ext cx="777240" cy="502920"/>
          </a:xfrm>
          <a:prstGeom prst="rect">
            <a:avLst/>
          </a:prstGeom>
          <a:solidFill>
            <a:srgbClr val="7B5EA7">
              <a:alpha val="85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728216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1997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17282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Blue vs Kasparov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1984248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superordenador de IBM derrota al campeón mundial de ajedrez por primera vez.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2606040"/>
            <a:ext cx="274320" cy="2743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96312"/>
            <a:ext cx="777240" cy="502920"/>
          </a:xfrm>
          <a:prstGeom prst="rect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249631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24963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Revolución del Deep Learning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2752344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gana ImageNet con redes neuronales profundas, transformando la IA.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3374136"/>
            <a:ext cx="274320" cy="2743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3264408"/>
            <a:ext cx="777240" cy="502920"/>
          </a:xfrm>
          <a:prstGeom prst="rect">
            <a:avLst/>
          </a:prstGeom>
          <a:solidFill>
            <a:srgbClr val="00C8FF">
              <a:alpha val="8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6440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20240" y="326440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"Attention Is All You Need"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20240" y="3520440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publica el artículo que introduce los Transformers, base de los LLMs modernos.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4142232"/>
            <a:ext cx="274320" cy="27432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" y="4032504"/>
            <a:ext cx="777240" cy="502920"/>
          </a:xfrm>
          <a:prstGeom prst="rect">
            <a:avLst/>
          </a:prstGeom>
          <a:solidFill>
            <a:srgbClr val="7B5EA7">
              <a:alpha val="85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4032504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20240" y="403250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 y la IA masiva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920240" y="4288536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lanza ChatGPT; en 5 días alcanza 1 millón de usuarios. La IA llega al gran público.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433"/>
          </a:solidFill>
          <a:ln w="12700">
            <a:solidFill>
              <a:srgbClr val="1114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 ACTUAL: ¿DÓNDE ESTAMOS?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920240"/>
          </a:xfrm>
          <a:prstGeom prst="rect">
            <a:avLst/>
          </a:prstGeom>
          <a:solidFill>
            <a:srgbClr val="1A205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nivel cognitivo humano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alcanzado por GPT-5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(estudio Hendrycks, oct. 2025)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777240"/>
            <a:ext cx="2743200" cy="1920240"/>
          </a:xfrm>
          <a:prstGeom prst="rect">
            <a:avLst/>
          </a:prstGeom>
          <a:solidFill>
            <a:srgbClr val="1A2050"/>
          </a:solidFill>
          <a:ln w="12700">
            <a:solidFill>
              <a:srgbClr val="7B5EA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229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7B5E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activos de AGI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37 países del mundo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Multiple, 2025)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777240"/>
            <a:ext cx="2743200" cy="1920240"/>
          </a:xfrm>
          <a:prstGeom prst="rect">
            <a:avLst/>
          </a:prstGeom>
          <a:solidFill>
            <a:srgbClr val="1A205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8229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probabilidad de alcanzar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hiitos de AGI antes de 2028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investigadores de 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8595360" cy="1965960"/>
          </a:xfrm>
          <a:prstGeom prst="rect">
            <a:avLst/>
          </a:prstGeom>
          <a:solidFill>
            <a:srgbClr val="1A2050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tenemos HOY?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54864" cy="12801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015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de lenguaje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74904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GPT-5, Gemini, Claude — razonamiento avanzado, código, matemáticas, visión.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3383280"/>
            <a:ext cx="54864" cy="12801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4015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Agentes autónomos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74904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navegan internet, ejecutan tareas y toman decisiones sin supervisión directa.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383280"/>
            <a:ext cx="54864" cy="128016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4015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Robótica inteligente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374904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Dynamics y Tesla desarrollan robots capaces de tareas físicas autónomas.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433"/>
          </a:solidFill>
          <a:ln w="12700">
            <a:solidFill>
              <a:srgbClr val="1114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CARRERA CORPORATIVA POR LA AGI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51960" cy="1325880"/>
          </a:xfrm>
          <a:prstGeom prst="rect">
            <a:avLst/>
          </a:prstGeom>
          <a:solidFill>
            <a:srgbClr val="1A2050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64592" cy="13258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GPT-5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Lanzó GPT-5 en agosto 2025 con mejoras drásticas en razonamiento y reducción de alucinaciones.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51960" cy="1325880"/>
          </a:xfrm>
          <a:prstGeom prst="rect">
            <a:avLst/>
          </a:prstGeom>
          <a:solidFill>
            <a:srgbClr val="1A2050"/>
          </a:solidFill>
          <a:ln w="19050">
            <a:solidFill>
              <a:srgbClr val="4285F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164592" cy="13258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DeepMind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234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Gemini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46304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el poder de DeepMind y Google Brain. Objetivos declarados de alcanzar AGI.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251960" cy="1325880"/>
          </a:xfrm>
          <a:prstGeom prst="rect">
            <a:avLst/>
          </a:prstGeom>
          <a:solidFill>
            <a:srgbClr val="1A2050"/>
          </a:solidFill>
          <a:ln w="19050">
            <a:solidFill>
              <a:srgbClr val="1877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40280"/>
            <a:ext cx="164592" cy="1325880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651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Llama / MSL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Lanzó Meta Superintelligence Labs con más de $70,000 millones en inversión y ex-empleados de OpenAI y Anthropic.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240280"/>
            <a:ext cx="4251960" cy="1325880"/>
          </a:xfrm>
          <a:prstGeom prst="rect">
            <a:avLst/>
          </a:prstGeom>
          <a:solidFill>
            <a:srgbClr val="1A2050"/>
          </a:solidFill>
          <a:ln w="19050">
            <a:solidFill>
              <a:srgbClr val="E7E7E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40280"/>
            <a:ext cx="164592" cy="1325880"/>
          </a:xfrm>
          <a:prstGeom prst="rect">
            <a:avLst/>
          </a:prstGeom>
          <a:solidFill>
            <a:srgbClr val="E7E7E7"/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xAI (Elon Musk)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2651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Grok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 predice una IA "más inteligente que el humano más inteligente" para 2026.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251960" cy="1325880"/>
          </a:xfrm>
          <a:prstGeom prst="rect">
            <a:avLst/>
          </a:prstGeom>
          <a:solidFill>
            <a:srgbClr val="1A2050"/>
          </a:solidFill>
          <a:ln w="19050">
            <a:solidFill>
              <a:srgbClr val="7B5EA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57600"/>
            <a:ext cx="164592" cy="13258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4069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Claude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29768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Fundada por ex-empleados de OpenAI, enfocada en IA segura y alineada con valores humanos.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251960" cy="1325880"/>
          </a:xfrm>
          <a:prstGeom prst="rect">
            <a:avLst/>
          </a:prstGeom>
          <a:solidFill>
            <a:srgbClr val="1A2050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57600"/>
            <a:ext cx="164592" cy="1325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China (Baidu, Alibaba)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83480" y="40690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DeepSeek + otros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429768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demostró que es posible crear modelos de clase mundial con una fracción del cómputo de los líderes occidentales.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433"/>
          </a:solidFill>
          <a:ln w="12700">
            <a:solidFill>
              <a:srgbClr val="1114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¿CUÁNDO LLEGARÁ LA AGI? PREDICCIONES REALES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606040"/>
            <a:ext cx="8229600" cy="54864"/>
          </a:xfrm>
          <a:prstGeom prst="rect">
            <a:avLst/>
          </a:prstGeom>
          <a:solidFill>
            <a:srgbClr val="00C8FF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2496312"/>
            <a:ext cx="274320" cy="2743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788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 Musk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3520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más inteligente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cualquier humano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-137160" y="914400"/>
            <a:ext cx="1463040" cy="1463040"/>
          </a:xfrm>
          <a:prstGeom prst="rect">
            <a:avLst/>
          </a:prstGeom>
          <a:solidFill>
            <a:srgbClr val="1A205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-73152" y="978408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 Musk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-73152" y="129844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-73152" y="1755648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más inteligente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cualquier humano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" y="2377440"/>
            <a:ext cx="36576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2496312"/>
            <a:ext cx="274320" cy="2743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64208" y="2788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2027-28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64208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Masayoshi 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64208" y="3520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hecha 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 de 2025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75888" y="2496312"/>
            <a:ext cx="274320" cy="27432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2788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5E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2026-28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28416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Altman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28416" y="3520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AGI-like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razonamiento humano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91256" y="914400"/>
            <a:ext cx="1463040" cy="1463040"/>
          </a:xfrm>
          <a:prstGeom prst="rect">
            <a:avLst/>
          </a:prstGeom>
          <a:solidFill>
            <a:srgbClr val="1A2050"/>
          </a:solidFill>
          <a:ln w="12700">
            <a:solidFill>
              <a:srgbClr val="7B5EA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55264" y="978408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Altman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129844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2026-28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255264" y="1755648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AGI-like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razonamiento humano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13048" y="2377440"/>
            <a:ext cx="36576" cy="25603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40096" y="2496312"/>
            <a:ext cx="274320" cy="27432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2788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85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2028-30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92624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Schmidt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92624" y="3520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años desde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de 2025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04304" y="2496312"/>
            <a:ext cx="274320" cy="274320"/>
          </a:xfrm>
          <a:prstGeom prst="ellipse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788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B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~2040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56832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Investigadores 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56832" y="35204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probabilidad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AGI (análisis AI Multiple)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19672" y="914400"/>
            <a:ext cx="1463040" cy="1463040"/>
          </a:xfrm>
          <a:prstGeom prst="rect">
            <a:avLst/>
          </a:prstGeom>
          <a:solidFill>
            <a:srgbClr val="1A2050"/>
          </a:solidFill>
          <a:ln w="12700">
            <a:solidFill>
              <a:srgbClr val="8A9BB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83680" y="978408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Investigadores IA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129844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~2040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583680" y="1755648"/>
            <a:ext cx="1316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probabilidad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AGI (análisis AI Multiple)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141464" y="2377440"/>
            <a:ext cx="36576" cy="256032"/>
          </a:xfrm>
          <a:prstGeom prst="rect">
            <a:avLst/>
          </a:prstGeom>
          <a:solidFill>
            <a:srgbClr val="8A9BBF"/>
          </a:solidFill>
          <a:ln w="12700">
            <a:solidFill>
              <a:srgbClr val="8A9B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1A205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4622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Ninguna predicción tiene consenso científico — los plazos se acortan con cada nuevo avance tecnológico.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433"/>
          </a:solidFill>
          <a:ln w="12700">
            <a:solidFill>
              <a:srgbClr val="1114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 EN LA SOCIEDAD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834640" cy="1920240"/>
          </a:xfrm>
          <a:prstGeom prst="rect">
            <a:avLst/>
          </a:prstGeom>
          <a:solidFill>
            <a:srgbClr val="1A2050"/>
          </a:solidFill>
          <a:ln w="1524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2834640" cy="384048"/>
          </a:xfrm>
          <a:prstGeom prst="rect">
            <a:avLst/>
          </a:prstGeom>
          <a:solidFill>
            <a:srgbClr val="00C8FF">
              <a:alpha val="2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84124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 Medicina y Salud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261872"/>
            <a:ext cx="26060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enfermedades con precisión superior a médicos especialistas. Descubrimiento acelerado de fármacos. Medicina personalizada basada en ADN.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2834640" cy="1920240"/>
          </a:xfrm>
          <a:prstGeom prst="rect">
            <a:avLst/>
          </a:prstGeom>
          <a:solidFill>
            <a:srgbClr val="1A2050"/>
          </a:solidFill>
          <a:ln w="1524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04672"/>
            <a:ext cx="2834640" cy="384048"/>
          </a:xfrm>
          <a:prstGeom prst="rect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84124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💼  Economía y Empleo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261872"/>
            <a:ext cx="26060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del Brookings Institution: hasta 40% del empleo en EE.UU. en riesgo de automatización. Nuevos empleos, pero transición compleja.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804672"/>
            <a:ext cx="2834640" cy="1920240"/>
          </a:xfrm>
          <a:prstGeom prst="rect">
            <a:avLst/>
          </a:prstGeom>
          <a:solidFill>
            <a:srgbClr val="1A2050"/>
          </a:solidFill>
          <a:ln w="15240">
            <a:solidFill>
              <a:srgbClr val="7B5EA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804672"/>
            <a:ext cx="2834640" cy="384048"/>
          </a:xfrm>
          <a:prstGeom prst="rect">
            <a:avLst/>
          </a:prstGeom>
          <a:solidFill>
            <a:srgbClr val="7B5EA7">
              <a:alpha val="25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84124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Ciencia e Investigación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1928" y="1261872"/>
            <a:ext cx="26060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podría comprimir décadas de avance científico en meses. Resolución de problemas abiertos en matemáticas, física y biología.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862072"/>
            <a:ext cx="2834640" cy="1920240"/>
          </a:xfrm>
          <a:prstGeom prst="rect">
            <a:avLst/>
          </a:prstGeom>
          <a:solidFill>
            <a:srgbClr val="1A2050"/>
          </a:solidFill>
          <a:ln w="1524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62072"/>
            <a:ext cx="2834640" cy="384048"/>
          </a:xfrm>
          <a:prstGeom prst="rect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89864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 Educación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" y="3319272"/>
            <a:ext cx="26060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Tutores personalizados para cada estudiante. Educación adaptativa e infinitamente paciente. Democratización del conocimiento global.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62072"/>
            <a:ext cx="2834640" cy="1920240"/>
          </a:xfrm>
          <a:prstGeom prst="rect">
            <a:avLst/>
          </a:prstGeom>
          <a:solidFill>
            <a:srgbClr val="1A2050"/>
          </a:solidFill>
          <a:ln w="1524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62072"/>
            <a:ext cx="2834640" cy="384048"/>
          </a:xfrm>
          <a:prstGeom prst="rect">
            <a:avLst/>
          </a:prstGeom>
          <a:solidFill>
            <a:srgbClr val="06D6A0">
              <a:alpha val="2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89864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Energía y Clima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3319272"/>
            <a:ext cx="26060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redes eléctricas, diseño de nuevos materiales para almacenamiento de energía y aceleración de soluciones al cambio climático.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862072"/>
            <a:ext cx="2834640" cy="1920240"/>
          </a:xfrm>
          <a:prstGeom prst="rect">
            <a:avLst/>
          </a:prstGeom>
          <a:solidFill>
            <a:srgbClr val="1A2050"/>
          </a:solidFill>
          <a:ln w="15240">
            <a:solidFill>
              <a:srgbClr val="F4A26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862072"/>
            <a:ext cx="2834640" cy="384048"/>
          </a:xfrm>
          <a:prstGeom prst="rect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289864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Geopolítica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81928" y="3319272"/>
            <a:ext cx="26060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carrera por la AGI es comparable a la carrera nuclear. EE.UU., China y otras potencias movilizan recursos masivos para no quedarse atrás.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RIESGOS Y DESAFÍOS ÉTICOS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51960" cy="1920240"/>
          </a:xfrm>
          <a:prstGeom prst="rect">
            <a:avLst/>
          </a:prstGeom>
          <a:solidFill>
            <a:srgbClr val="150505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9144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9326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 de Alineación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garantizar que una AGI actúe conforme a valores humanos? Este problema sigue sin resolverse. Una IA mal alineada podría optimizar objetivos de formas catastróficas.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251960" cy="1920240"/>
          </a:xfrm>
          <a:prstGeom prst="rect">
            <a:avLst/>
          </a:prstGeom>
          <a:solidFill>
            <a:srgbClr val="150505"/>
          </a:solidFill>
          <a:ln w="19050">
            <a:solidFill>
              <a:srgbClr val="FF9A3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9144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9A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32120" y="9326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Riesgo Existencial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3619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del 50% de investigadores creen que hay al menos 10% de probabilidad de que la IA cause una catástrofe existencial. Geoffrey Hinton y otros Nobel han expresado esta preocupación.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251960" cy="1920240"/>
          </a:xfrm>
          <a:prstGeom prst="rect">
            <a:avLst/>
          </a:prstGeom>
          <a:solidFill>
            <a:srgbClr val="150505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29718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97280" y="29900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Concentración de Poder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59359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sola empresa, país o individuo controla la AGI, el desequilibrio de poder sería sin precedentes. La brecha digital podría volverse permanente.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251960" cy="1920240"/>
          </a:xfrm>
          <a:prstGeom prst="rect">
            <a:avLst/>
          </a:prstGeom>
          <a:solidFill>
            <a:srgbClr val="150505"/>
          </a:solidFill>
          <a:ln w="19050">
            <a:solidFill>
              <a:srgbClr val="A8D8A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18888" y="29718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A8D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32120" y="29900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Desempleo Masivo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593592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automatización puede eliminar empleos más rápido de lo que la sociedad puede adaptarse. El 40% del empleo en EE.UU. está en riesgo, según Brookings Institution.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736592"/>
            <a:ext cx="8595360" cy="246888"/>
          </a:xfrm>
          <a:prstGeom prst="rect">
            <a:avLst/>
          </a:prstGeom>
          <a:solidFill>
            <a:srgbClr val="15050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4573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 Bostrom — "Superintelligence" (2014): la AGI podría ser la última invención que la humanidad necesite hacer.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¿Estamos preparados para la AGI?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472184"/>
            <a:ext cx="8595360" cy="548640"/>
          </a:xfrm>
          <a:prstGeom prst="rect">
            <a:avLst/>
          </a:prstGeom>
          <a:solidFill>
            <a:srgbClr val="1A2050"/>
          </a:solidFill>
          <a:ln w="12700">
            <a:solidFill>
              <a:srgbClr val="1A2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AGI no es ficción: es el objetivo declarado de las empresas más poderosas del mundo con miles de millones invertidos.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093976"/>
            <a:ext cx="8595360" cy="548640"/>
          </a:xfrm>
          <a:prstGeom prst="rect">
            <a:avLst/>
          </a:prstGeom>
          <a:solidFill>
            <a:srgbClr val="1A2050">
              <a:alpha val="80000"/>
            </a:srgbClr>
          </a:solidFill>
          <a:ln w="12700">
            <a:solidFill>
              <a:srgbClr val="1A2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1305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plazos se acortan: predicciones de 20-30 años ahora se miden en 3-5 años según líderes de la industria.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715768"/>
            <a:ext cx="8595360" cy="548640"/>
          </a:xfrm>
          <a:prstGeom prst="rect">
            <a:avLst/>
          </a:prstGeom>
          <a:solidFill>
            <a:srgbClr val="1A2050"/>
          </a:solidFill>
          <a:ln w="12700">
            <a:solidFill>
              <a:srgbClr val="1A2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52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7523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beneficios son enormes: medicina, clima, ciencia, educación — la AGI podría resolver los grandes desafíos humanos.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337560"/>
            <a:ext cx="8595360" cy="548640"/>
          </a:xfrm>
          <a:prstGeom prst="rect">
            <a:avLst/>
          </a:prstGeom>
          <a:solidFill>
            <a:srgbClr val="1A2050">
              <a:alpha val="80000"/>
            </a:srgbClr>
          </a:solidFill>
          <a:ln w="12700">
            <a:solidFill>
              <a:srgbClr val="1A2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37413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riesgos son reales: la alineación, la concentración de poder y el impacto social requieren atención urgente.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959352"/>
            <a:ext cx="8595360" cy="548640"/>
          </a:xfrm>
          <a:prstGeom prst="rect">
            <a:avLst/>
          </a:prstGeom>
          <a:solidFill>
            <a:srgbClr val="1A2050"/>
          </a:solidFill>
          <a:ln w="12700">
            <a:solidFill>
              <a:srgbClr val="1A2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9959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es la gobernanza: reguladores, investigadores y ciudadanos deben participar activamente en el diseño del futuro.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111433"/>
          </a:solidFill>
          <a:ln w="12700">
            <a:solidFill>
              <a:srgbClr val="1114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futuro de la AGI no lo escribirá solo el código, sino las decisiones humanas que tomemos hoy."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433"/>
          </a:solidFill>
          <a:ln w="12700">
            <a:solidFill>
              <a:srgbClr val="1114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FUENTES DE INFORMACIÓN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651760" cy="4160520"/>
          </a:xfrm>
          <a:prstGeom prst="rect">
            <a:avLst/>
          </a:prstGeom>
          <a:solidFill>
            <a:srgbClr val="1A2050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651760" cy="36576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955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📖  LIBROS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Superintelligence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5270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 Bostrom  ·  2014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568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Compatible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22494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Stuart Russell  ·  2019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6791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Coming Wave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9718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Suleyman  ·  2023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401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of AI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36941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 Hao  ·  2025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1239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Supremacy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44165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Parmy Olson  ·  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63240" y="777240"/>
            <a:ext cx="3017520" cy="4160520"/>
          </a:xfrm>
          <a:prstGeom prst="rect">
            <a:avLst/>
          </a:prstGeom>
          <a:solidFill>
            <a:srgbClr val="1A2050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63240" y="777240"/>
            <a:ext cx="3017520" cy="365760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7955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ARTÍCULOS Y WEB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en Wikipedia 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150876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18425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 Predicciones de AGI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211683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Multiple, 2025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2450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of AGI: Oct 2025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27249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Tech Journal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30586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AGI está cada vez más cerca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33329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Infobae, mayo 2025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3666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la promesa y el abismo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39410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sergiocolado.com, 2025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42748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existencial de la IA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454914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ES, 2025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777240"/>
            <a:ext cx="2651760" cy="4160520"/>
          </a:xfrm>
          <a:prstGeom prst="rect">
            <a:avLst/>
          </a:prstGeom>
          <a:solidFill>
            <a:srgbClr val="1A2050"/>
          </a:solidFill>
          <a:ln w="19050">
            <a:solidFill>
              <a:srgbClr val="7B5EA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777240"/>
            <a:ext cx="2651760" cy="365760"/>
          </a:xfrm>
          <a:prstGeom prst="rect">
            <a:avLst/>
          </a:prstGeom>
          <a:solidFill>
            <a:srgbClr val="7B5EA7">
              <a:alpha val="80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7955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 ESTUDIOS Y OTROS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12344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psicométrico para AGI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0" y="15270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Hendrycks et al., Oct 2025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19568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DeepSeek's Breakthrough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00800" y="22494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/ PubMed, 2025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26791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la IA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0" y="29718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IIC – UAM, 2026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34015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de la IA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400800" y="369417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 Mundo, 2025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41239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la IA en 2025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00800" y="44165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ts2.tech, 2025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11433"/>
          </a:solidFill>
          <a:ln w="12700">
            <a:solidFill>
              <a:srgbClr val="1114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92861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completo de notas y fuentes disponible por separado  •  Materia de Inteligencia Artificial,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Inteligencia Artificial General (AGI)</dc:title>
  <dc:subject>PptxGenJS Presentation</dc:subject>
  <dc:creator>PptxGenJS</dc:creator>
  <cp:lastModifiedBy>PptxGenJS</cp:lastModifiedBy>
  <cp:revision>1</cp:revision>
  <dcterms:created xsi:type="dcterms:W3CDTF">2026-05-19T23:30:17Z</dcterms:created>
  <dcterms:modified xsi:type="dcterms:W3CDTF">2026-05-19T23:30:17Z</dcterms:modified>
</cp:coreProperties>
</file>